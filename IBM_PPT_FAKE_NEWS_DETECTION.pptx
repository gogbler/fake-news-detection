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4C92D1E-0295-440C-93CB-E0A28EFC4D2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dit Singh" userId="0e56a3621dec3333" providerId="LiveId" clId="{C738D4E0-BE97-4958-BBEA-FD7CA1BA61D2}"/>
    <pc:docChg chg="undo custSel modSld addSection">
      <pc:chgData name="Vidit Singh" userId="0e56a3621dec3333" providerId="LiveId" clId="{C738D4E0-BE97-4958-BBEA-FD7CA1BA61D2}" dt="2026-07-13T04:42:43.991" v="223" actId="113"/>
      <pc:docMkLst>
        <pc:docMk/>
      </pc:docMkLst>
      <pc:sldChg chg="addSp delSp modSp mod modClrScheme chgLayout">
        <pc:chgData name="Vidit Singh" userId="0e56a3621dec3333" providerId="LiveId" clId="{C738D4E0-BE97-4958-BBEA-FD7CA1BA61D2}" dt="2026-07-13T04:42:43.991" v="223" actId="113"/>
        <pc:sldMkLst>
          <pc:docMk/>
          <pc:sldMk cId="4270825665" sldId="256"/>
        </pc:sldMkLst>
        <pc:spChg chg="mod ord">
          <ac:chgData name="Vidit Singh" userId="0e56a3621dec3333" providerId="LiveId" clId="{C738D4E0-BE97-4958-BBEA-FD7CA1BA61D2}" dt="2026-07-13T04:42:43.991" v="223" actId="113"/>
          <ac:spMkLst>
            <pc:docMk/>
            <pc:sldMk cId="4270825665" sldId="256"/>
            <ac:spMk id="2" creationId="{D1445FE9-709B-0458-4A18-D6193D6D71FA}"/>
          </ac:spMkLst>
        </pc:spChg>
        <pc:spChg chg="del">
          <ac:chgData name="Vidit Singh" userId="0e56a3621dec3333" providerId="LiveId" clId="{C738D4E0-BE97-4958-BBEA-FD7CA1BA61D2}" dt="2026-07-13T04:21:13.646" v="42" actId="478"/>
          <ac:spMkLst>
            <pc:docMk/>
            <pc:sldMk cId="4270825665" sldId="256"/>
            <ac:spMk id="3" creationId="{18614178-759A-D6EB-21AE-C34D18F57BB7}"/>
          </ac:spMkLst>
        </pc:spChg>
        <pc:picChg chg="add mod">
          <ac:chgData name="Vidit Singh" userId="0e56a3621dec3333" providerId="LiveId" clId="{C738D4E0-BE97-4958-BBEA-FD7CA1BA61D2}" dt="2026-07-13T04:29:38.699" v="117" actId="1076"/>
          <ac:picMkLst>
            <pc:docMk/>
            <pc:sldMk cId="4270825665" sldId="256"/>
            <ac:picMk id="5" creationId="{A8E4C295-7765-98E6-0D60-0F4533C86EF5}"/>
          </ac:picMkLst>
        </pc:picChg>
      </pc:sldChg>
      <pc:sldChg chg="addSp modSp mod">
        <pc:chgData name="Vidit Singh" userId="0e56a3621dec3333" providerId="LiveId" clId="{C738D4E0-BE97-4958-BBEA-FD7CA1BA61D2}" dt="2026-07-13T03:58:19.583" v="3" actId="1076"/>
        <pc:sldMkLst>
          <pc:docMk/>
          <pc:sldMk cId="945147372" sldId="257"/>
        </pc:sldMkLst>
        <pc:spChg chg="add mod">
          <ac:chgData name="Vidit Singh" userId="0e56a3621dec3333" providerId="LiveId" clId="{C738D4E0-BE97-4958-BBEA-FD7CA1BA61D2}" dt="2026-07-13T03:58:19.583" v="3" actId="1076"/>
          <ac:spMkLst>
            <pc:docMk/>
            <pc:sldMk cId="945147372" sldId="257"/>
            <ac:spMk id="5" creationId="{D6F57ACD-2941-1C63-5295-81E756CEBDD5}"/>
          </ac:spMkLst>
        </pc:spChg>
      </pc:sldChg>
      <pc:sldChg chg="delSp modSp mod">
        <pc:chgData name="Vidit Singh" userId="0e56a3621dec3333" providerId="LiveId" clId="{C738D4E0-BE97-4958-BBEA-FD7CA1BA61D2}" dt="2026-07-13T03:57:57.804" v="1" actId="113"/>
        <pc:sldMkLst>
          <pc:docMk/>
          <pc:sldMk cId="770320404" sldId="259"/>
        </pc:sldMkLst>
        <pc:spChg chg="mod">
          <ac:chgData name="Vidit Singh" userId="0e56a3621dec3333" providerId="LiveId" clId="{C738D4E0-BE97-4958-BBEA-FD7CA1BA61D2}" dt="2026-07-13T03:57:57.804" v="1" actId="113"/>
          <ac:spMkLst>
            <pc:docMk/>
            <pc:sldMk cId="770320404" sldId="259"/>
            <ac:spMk id="2" creationId="{9FEBE1AD-2CBF-D3AA-114C-08AE0B7CDF79}"/>
          </ac:spMkLst>
        </pc:spChg>
        <pc:spChg chg="del">
          <ac:chgData name="Vidit Singh" userId="0e56a3621dec3333" providerId="LiveId" clId="{C738D4E0-BE97-4958-BBEA-FD7CA1BA61D2}" dt="2026-07-13T03:57:42.702" v="0" actId="21"/>
          <ac:spMkLst>
            <pc:docMk/>
            <pc:sldMk cId="770320404" sldId="259"/>
            <ac:spMk id="5" creationId="{C4A4C53F-660E-A8C0-6F8A-F718EB1C1EE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162E2-A172-C2B9-4EBB-909906998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F7FB9B-9397-BC6E-0DBE-14D83A260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6EFFD-9E90-CDCF-C998-52160A561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0E491-D9E0-6737-DD89-B831F4FA5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5D3E0-C2E0-84E0-0E01-22A32F8D4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993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BADC-75F3-620D-DF6C-E102889B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5A75A-2CF6-595B-66D5-39BAA3C6E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760A1-239D-2FA5-B851-C98BC7078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DB0BA-2407-3408-84DA-7BB89DAA3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39338-AAB0-C7D2-C832-3FE3ED744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06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52D9-E704-A2C5-9BE0-7058C5B78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77027-5B6A-1CA0-4860-6944D3DE1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9104B-77BD-49CD-71E2-29AD696E9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ADDD6-D5F7-5E5C-4875-523F1E9C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BB557-C0FB-CC2A-7B07-796DCCC2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673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968D-0D79-5128-0E0D-C6E6C399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9FA80-9F54-201C-CF2B-98FE31D5D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1F52C-2018-1DBD-866C-516776590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266D2-028F-A6C0-7DF5-21F1A451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5B3BE-2326-6533-FB74-D65DDC1B4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F5B7A-7C71-973A-E678-3674D2C3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888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07172-4AF1-781A-1D3C-ACFA1E0C3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B5463-2608-E9B9-6683-BDA3F5678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51436-F3AF-BB41-1688-301B91B5E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9F32C-13F5-FFB0-35AF-06A7FB0E7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B51921-A540-DABF-4CC0-E77BE018B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F0412-25A1-30CA-81D3-A970DE2D5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0C30E-1051-3BCA-196F-3D6EE109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BB25C-F80E-DF99-0E55-6510FD200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94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4598A-CA4C-0340-5655-FE19A7F53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72049F-FC80-94D7-66CA-DB3057DC7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EE8BF-7EAD-8DE0-F2DE-E8CBE56E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DDFC4-584E-5C55-8DD1-9532AB5C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04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87E01D-4E8E-C11E-F368-1E3A121C9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D7A49F-EEBC-2B73-AFC0-8B2776E33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46328-5289-2073-9BDB-04F1B8A1E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69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BC08C-3715-6235-774F-6DA920159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64705-357C-7104-8ADD-6CE43E73B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21791-5488-E554-1EEB-889BF4B7D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F93CD-52A5-242F-0360-CB291FAE5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2706F-A3B7-BE07-8805-A682D51C6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8DA10-6C07-950B-9731-B0CD1CA1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150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974B-977D-630E-5246-8BD8065A1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61DF1A-CFC7-6ED1-492D-D26CFCCE3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FC084-C1B6-6FA0-260F-E9E2A874B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2D65F-2E9B-67FA-9037-356DEE48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543BC-31AD-E633-52FE-562DA104B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EDE64-664F-D940-EDD1-ACA19A6F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339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1F3BD-209E-1EF5-D041-993550F8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59A607-8E57-0A15-3A42-8D6738C99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1B2FB-09D9-8FB3-819E-2693D44C7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F5E25-7E52-3599-3F41-3CF76FFC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AD400-B872-A47E-6FD0-32A208B9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971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005AEE-1327-A3EF-C077-D046F42DB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3BC74-3BE3-A362-C921-C413346F3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3CD34-0F8A-0466-65DF-B7B6034E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6D27-494F-4B5F-ABB3-DA40DF31E4C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EF22B-8D02-D825-D7CD-0F380D51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D40B5-751D-A681-10C2-DCD7A38BC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91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A8AE2E-FF74-F2F3-F67F-5C76E728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11781-C074-7768-C599-80DF6AFED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D7C83-AF81-7777-66DA-C5B862B4E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D6D27-494F-4B5F-ABB3-DA40DF31E4CD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97FFD-7C57-CCA4-14AC-C1C4444AD3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6B292-744A-A8A3-E60F-58F24511B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4116D-4424-4847-92BC-381BBDFB0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46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5FE9-709B-0458-4A18-D6193D6D7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771" y="83977"/>
            <a:ext cx="10692882" cy="6596742"/>
          </a:xfrm>
        </p:spPr>
        <p:txBody>
          <a:bodyPr>
            <a:normAutofit fontScale="90000"/>
          </a:bodyPr>
          <a:lstStyle/>
          <a:p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IBM PBEL Virtual Internship 2026</a:t>
            </a:r>
            <a:br>
              <a:rPr lang="en-US" sz="3200" b="1" dirty="0"/>
            </a:br>
            <a:r>
              <a:rPr lang="en-US" sz="3200" b="1" dirty="0"/>
              <a:t>In</a:t>
            </a:r>
            <a:br>
              <a:rPr lang="en-US" sz="3200" b="1" dirty="0"/>
            </a:br>
            <a:r>
              <a:rPr lang="en-US" sz="3200" b="1" dirty="0"/>
              <a:t>Artificial Intelligence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Under the guidance of</a:t>
            </a:r>
            <a:br>
              <a:rPr lang="en-US" sz="3200" b="1" dirty="0"/>
            </a:br>
            <a:r>
              <a:rPr lang="en-US" sz="3200" b="1" dirty="0"/>
              <a:t>Hemanth </a:t>
            </a:r>
            <a:r>
              <a:rPr lang="en-US" sz="3200" b="1" dirty="0" err="1"/>
              <a:t>Kyatham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Topic – Fake News Detection Using Machine Learning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Presented by-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Aditya Singh</a:t>
            </a:r>
            <a:br>
              <a:rPr lang="en-US" sz="3200" b="1" dirty="0"/>
            </a:br>
            <a:r>
              <a:rPr lang="en-US" sz="3200" b="1" dirty="0" err="1"/>
              <a:t>B.tech</a:t>
            </a:r>
            <a:r>
              <a:rPr lang="en-US" sz="3200" b="1" dirty="0"/>
              <a:t> (CSE)</a:t>
            </a:r>
            <a:br>
              <a:rPr lang="en-US" sz="3200" b="1" dirty="0"/>
            </a:br>
            <a:r>
              <a:rPr lang="en-US" sz="3200" b="1" dirty="0"/>
              <a:t>adityasinghuit013@gmail.com</a:t>
            </a:r>
            <a:br>
              <a:rPr lang="en-US" sz="3200" b="1" dirty="0"/>
            </a:br>
            <a:r>
              <a:rPr lang="en-US" sz="3200" b="1" dirty="0"/>
              <a:t>Batch 8</a:t>
            </a:r>
            <a:br>
              <a:rPr lang="en-US" sz="2800" b="1" dirty="0"/>
            </a:br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4C295-7765-98E6-0D60-0F4533C86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6" y="0"/>
            <a:ext cx="1371601" cy="128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25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96574-85AD-C261-6F9C-D3470F820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888534-87BB-9E6E-1C39-441CB5CA0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Fake news refers to false or misleading information presented as genuine news.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It spreads rapidly through social media, news websites, and messaging platforms.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The increasing volume of online content makes manual verification difficult.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Machine Learning (ML) enables automatic classification of news as Real or Fake.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Natural Language Processing (NLP) helps analyze the textual content of news articles.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The goal is to develop an accurate and efficient fake news detection system.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/>
              <a:t>Visual</a:t>
            </a:r>
            <a:r>
              <a:rPr lang="en-US" b="1" dirty="0"/>
              <a:t>:</a:t>
            </a:r>
            <a:r>
              <a:rPr lang="en-US" dirty="0"/>
              <a:t> An illustration showing "Real News" vs. "Fake News" or a news feed with AI.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F57ACD-2941-1C63-5295-81E756CEBDD5}"/>
              </a:ext>
            </a:extLst>
          </p:cNvPr>
          <p:cNvSpPr/>
          <p:nvPr/>
        </p:nvSpPr>
        <p:spPr>
          <a:xfrm>
            <a:off x="0" y="489465"/>
            <a:ext cx="128016" cy="7040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14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5CA849-654C-4173-AD99-B3A252827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CE9DAD-1CDE-A259-3999-2CE886638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411480"/>
            <a:ext cx="10952742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dirty="0"/>
              <a:t>Problem Statement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AF6B9-9605-0FE3-425A-2451ACCC1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" r="-2" b="-2"/>
          <a:stretch>
            <a:fillRect/>
          </a:stretch>
        </p:blipFill>
        <p:spPr>
          <a:xfrm>
            <a:off x="429768" y="1721922"/>
            <a:ext cx="6704891" cy="4520559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349BF-82B6-8C82-8007-73C21F4C9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8752" y="2020824"/>
            <a:ext cx="3455097" cy="3959352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Fake news spreads quickly and reaches millions of people within minutes.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 Manual fact-checking is </a:t>
            </a:r>
            <a:r>
              <a:rPr lang="en-US" sz="2000" b="1" dirty="0"/>
              <a:t>time-consuming and not scalable</a:t>
            </a:r>
            <a:r>
              <a:rPr lang="en-US" sz="2000" dirty="0"/>
              <a:t>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False information can influence public opinion, elections, and financial markets.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 There is a need for an </a:t>
            </a:r>
            <a:r>
              <a:rPr lang="en-US" sz="2000" b="1" dirty="0"/>
              <a:t>automated system</a:t>
            </a:r>
            <a:r>
              <a:rPr lang="en-US" sz="2000" dirty="0"/>
              <a:t> that can detect fake news   accurately.</a:t>
            </a:r>
          </a:p>
        </p:txBody>
      </p:sp>
    </p:spTree>
    <p:extLst>
      <p:ext uri="{BB962C8B-B14F-4D97-AF65-F5344CB8AC3E}">
        <p14:creationId xmlns:p14="http://schemas.microsoft.com/office/powerpoint/2010/main" val="64001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5CA849-654C-4173-AD99-B3A252827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BE1AD-2CBF-D3AA-114C-08AE0B7CD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11201400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dirty="0"/>
              <a:t>Objectives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46420C-464A-C5A8-6336-EC8D7D28A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0" r="-1" b="2875"/>
          <a:stretch>
            <a:fillRect/>
          </a:stretch>
        </p:blipFill>
        <p:spPr>
          <a:xfrm>
            <a:off x="429768" y="1721922"/>
            <a:ext cx="6704891" cy="4520559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06233-0764-3007-CFBF-DF4F30878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8198" y="1929384"/>
            <a:ext cx="3455651" cy="4050792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Collect and preprocess news datasets.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Remove unnecessary text and clean the data.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Convert text into numerical features using TF-IDF            Vectorization.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Train a Machine Learning model.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Predict whether a news article is Real or Fake.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Evaluate model performance using different metrics</a:t>
            </a:r>
          </a:p>
        </p:txBody>
      </p:sp>
    </p:spTree>
    <p:extLst>
      <p:ext uri="{BB962C8B-B14F-4D97-AF65-F5344CB8AC3E}">
        <p14:creationId xmlns:p14="http://schemas.microsoft.com/office/powerpoint/2010/main" val="770320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3A050-B654-19DA-75E5-49A4A51C4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Technologies Used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5C4FF-7F71-A398-03D9-05702828A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sz="2400" dirty="0"/>
              <a:t>🐍 </a:t>
            </a:r>
            <a:r>
              <a:rPr lang="en-IN" sz="2400" b="1" dirty="0"/>
              <a:t>Python: </a:t>
            </a:r>
            <a:r>
              <a:rPr lang="en-IN" sz="2400" dirty="0"/>
              <a:t>Core programming language</a:t>
            </a:r>
          </a:p>
          <a:p>
            <a:r>
              <a:rPr lang="en-IN" sz="2400" dirty="0"/>
              <a:t>📊 </a:t>
            </a:r>
            <a:r>
              <a:rPr lang="en-IN" sz="2400" b="1" dirty="0"/>
              <a:t>Pandas: </a:t>
            </a:r>
            <a:r>
              <a:rPr lang="en-IN" sz="2400" dirty="0"/>
              <a:t>Data loading and Preprocessing</a:t>
            </a:r>
            <a:endParaRPr lang="en-IN" sz="2400" b="1" dirty="0"/>
          </a:p>
          <a:p>
            <a:r>
              <a:rPr lang="en-IN" sz="2400" dirty="0"/>
              <a:t>🔢 </a:t>
            </a:r>
            <a:r>
              <a:rPr lang="en-IN" sz="2400" b="1" dirty="0"/>
              <a:t>NumPy: </a:t>
            </a:r>
            <a:r>
              <a:rPr lang="en-IN" sz="2400" dirty="0"/>
              <a:t>Numerical Computations</a:t>
            </a:r>
          </a:p>
          <a:p>
            <a:r>
              <a:rPr lang="en-IN" sz="2400" dirty="0"/>
              <a:t>📝 </a:t>
            </a:r>
            <a:r>
              <a:rPr lang="en-IN" sz="2400" b="1" dirty="0"/>
              <a:t>NLTK: </a:t>
            </a:r>
            <a:r>
              <a:rPr lang="en-IN" sz="2400" dirty="0"/>
              <a:t>Natural language Processing (NLP)</a:t>
            </a:r>
          </a:p>
          <a:p>
            <a:r>
              <a:rPr lang="en-IN" sz="2400" dirty="0"/>
              <a:t>📈 </a:t>
            </a:r>
            <a:r>
              <a:rPr lang="en-IN" sz="2400" b="1" dirty="0"/>
              <a:t>TF-IDF Vectorizer: </a:t>
            </a:r>
            <a:r>
              <a:rPr lang="en-IN" sz="2400" dirty="0"/>
              <a:t>Feature extraction from text</a:t>
            </a:r>
          </a:p>
          <a:p>
            <a:r>
              <a:rPr lang="en-IN" sz="2400" dirty="0"/>
              <a:t>📉 </a:t>
            </a:r>
            <a:r>
              <a:rPr lang="en-IN" sz="2400" b="1" dirty="0"/>
              <a:t>Matplotlib: </a:t>
            </a:r>
            <a:r>
              <a:rPr lang="en-IN" sz="2400" dirty="0"/>
              <a:t>Data Visualization</a:t>
            </a:r>
            <a:endParaRPr lang="en-IN" sz="2400" b="1" dirty="0"/>
          </a:p>
          <a:p>
            <a:r>
              <a:rPr lang="en-IN" sz="2400" dirty="0"/>
              <a:t>📒 </a:t>
            </a:r>
            <a:r>
              <a:rPr lang="en-IN" sz="2400" b="1" dirty="0"/>
              <a:t>Jupyter Notebook: </a:t>
            </a:r>
            <a:r>
              <a:rPr lang="en-IN" sz="2400" dirty="0"/>
              <a:t>Development and experimentation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A0B8F2-4898-7ABB-183A-3E4BDCE49553}"/>
              </a:ext>
            </a:extLst>
          </p:cNvPr>
          <p:cNvSpPr/>
          <p:nvPr/>
        </p:nvSpPr>
        <p:spPr>
          <a:xfrm>
            <a:off x="0" y="337822"/>
            <a:ext cx="128016" cy="7040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935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4D46527-8963-4773-8769-07E6ACE08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FD9B8-B92B-3D16-746C-E19BA0F6C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320" y="337822"/>
            <a:ext cx="5257800" cy="1325563"/>
          </a:xfrm>
        </p:spPr>
        <p:txBody>
          <a:bodyPr>
            <a:normAutofit/>
          </a:bodyPr>
          <a:lstStyle/>
          <a:p>
            <a:r>
              <a:rPr lang="en-IN" b="1"/>
              <a:t>Dataset Description</a:t>
            </a:r>
            <a:br>
              <a:rPr lang="en-IN" b="1"/>
            </a:b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4873FC-AA00-F4C8-9E09-BE999BBD6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03" y="1509137"/>
            <a:ext cx="4841951" cy="4841951"/>
          </a:xfrm>
          <a:custGeom>
            <a:avLst/>
            <a:gdLst/>
            <a:ahLst/>
            <a:cxnLst/>
            <a:rect l="l" t="t" r="r" b="b"/>
            <a:pathLst>
              <a:path w="4643496" h="5550370">
                <a:moveTo>
                  <a:pt x="81586" y="0"/>
                </a:moveTo>
                <a:lnTo>
                  <a:pt x="4561910" y="0"/>
                </a:lnTo>
                <a:cubicBezTo>
                  <a:pt x="4606969" y="0"/>
                  <a:pt x="4643496" y="36527"/>
                  <a:pt x="4643496" y="81586"/>
                </a:cubicBezTo>
                <a:lnTo>
                  <a:pt x="4643496" y="5468784"/>
                </a:lnTo>
                <a:cubicBezTo>
                  <a:pt x="4643496" y="5513843"/>
                  <a:pt x="4606969" y="5550370"/>
                  <a:pt x="4561910" y="5550370"/>
                </a:cubicBezTo>
                <a:lnTo>
                  <a:pt x="81586" y="5550370"/>
                </a:lnTo>
                <a:cubicBezTo>
                  <a:pt x="36527" y="5550370"/>
                  <a:pt x="0" y="5513843"/>
                  <a:pt x="0" y="5468784"/>
                </a:cubicBezTo>
                <a:lnTo>
                  <a:pt x="0" y="81586"/>
                </a:lnTo>
                <a:cubicBezTo>
                  <a:pt x="0" y="36527"/>
                  <a:pt x="36527" y="0"/>
                  <a:pt x="81586" y="0"/>
                </a:cubicBezTo>
                <a:close/>
              </a:path>
            </a:pathLst>
          </a:cu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D731B0-2C6B-A5BF-6548-99C90547B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935" y="1041910"/>
            <a:ext cx="5257800" cy="4351338"/>
          </a:xfrm>
        </p:spPr>
        <p:txBody>
          <a:bodyPr>
            <a:noAutofit/>
          </a:bodyPr>
          <a:lstStyle/>
          <a:p>
            <a:r>
              <a:rPr lang="en-IN" sz="2000" dirty="0"/>
              <a:t>A publicly available Fake News Dataset was used to train and evaluate the machine learning model. </a:t>
            </a:r>
          </a:p>
          <a:p>
            <a:r>
              <a:rPr lang="en-IN" sz="2000" dirty="0"/>
              <a:t>The dataset consists of real and fake news articles collected from various online news sources. </a:t>
            </a:r>
          </a:p>
          <a:p>
            <a:r>
              <a:rPr lang="en-IN" sz="2000" dirty="0"/>
              <a:t>Each news record contains important information such as the title, article text, subject, and publication date. </a:t>
            </a:r>
          </a:p>
          <a:p>
            <a:r>
              <a:rPr lang="en-IN" sz="2000" dirty="0"/>
              <a:t>The dataset provides </a:t>
            </a:r>
            <a:r>
              <a:rPr lang="en-IN" sz="2000" dirty="0" err="1"/>
              <a:t>labeled</a:t>
            </a:r>
            <a:r>
              <a:rPr lang="en-IN" sz="2000" dirty="0"/>
              <a:t> data, where each article is classified as Real or Fake, making it suitable for supervised machine learning. </a:t>
            </a:r>
          </a:p>
          <a:p>
            <a:r>
              <a:rPr lang="en-IN" sz="2000" dirty="0"/>
              <a:t>Before model training, the dataset was cleaned  by removing unnecessary characters, punctuation, and stop words. </a:t>
            </a:r>
          </a:p>
          <a:p>
            <a:r>
              <a:rPr lang="en-IN" sz="2000" dirty="0"/>
              <a:t>The processed dataset was divided into training and testing sets to evaluate the model's performance effectively.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920E13D1-85D7-4BF3-9903-59216CB5A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365355" y="705367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8EC9F9-2475-EF13-6EF3-2ECB2A81AA59}"/>
              </a:ext>
            </a:extLst>
          </p:cNvPr>
          <p:cNvSpPr/>
          <p:nvPr/>
        </p:nvSpPr>
        <p:spPr>
          <a:xfrm>
            <a:off x="0" y="337822"/>
            <a:ext cx="128016" cy="7040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495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AF29A-4081-C5D6-0331-D3987EFF2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177" y="155877"/>
            <a:ext cx="5458838" cy="1325563"/>
          </a:xfrm>
        </p:spPr>
        <p:txBody>
          <a:bodyPr>
            <a:normAutofit/>
          </a:bodyPr>
          <a:lstStyle/>
          <a:p>
            <a:r>
              <a:rPr lang="en-IN" b="1" dirty="0"/>
              <a:t>Methodology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C1D8FE-CDB7-F3B4-8EA0-6918E3F8F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97" y="1637316"/>
            <a:ext cx="3122214" cy="491687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6565A-C046-E17E-1232-4D89E2CFD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IN" sz="2200" dirty="0"/>
              <a:t>Collected </a:t>
            </a:r>
            <a:r>
              <a:rPr lang="en-IN" sz="2200" dirty="0" err="1"/>
              <a:t>labeled</a:t>
            </a:r>
            <a:r>
              <a:rPr lang="en-IN" sz="2200" dirty="0"/>
              <a:t> news articles from the dataset. </a:t>
            </a:r>
          </a:p>
          <a:p>
            <a:r>
              <a:rPr lang="en-IN" sz="2200" dirty="0" err="1"/>
              <a:t>Preprocessed</a:t>
            </a:r>
            <a:r>
              <a:rPr lang="en-IN" sz="2200" dirty="0"/>
              <a:t> textual data using NLP techniques. </a:t>
            </a:r>
          </a:p>
          <a:p>
            <a:r>
              <a:rPr lang="en-IN" sz="2200" dirty="0"/>
              <a:t>Extracted features using TF-IDF Vectorization. Trained the classification model on the processed data. </a:t>
            </a:r>
          </a:p>
          <a:p>
            <a:r>
              <a:rPr lang="en-IN" sz="2200" dirty="0"/>
              <a:t>Predicted whether news articles are Real or Fake. </a:t>
            </a:r>
          </a:p>
          <a:p>
            <a:r>
              <a:rPr lang="en-IN" sz="2200" dirty="0"/>
              <a:t>Evaluated the model using Accuracy, Precision, Recall, and F1-Scor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92C96D-711E-FE31-C0C3-A33412E79D34}"/>
              </a:ext>
            </a:extLst>
          </p:cNvPr>
          <p:cNvSpPr/>
          <p:nvPr/>
        </p:nvSpPr>
        <p:spPr>
          <a:xfrm>
            <a:off x="0" y="337822"/>
            <a:ext cx="128016" cy="7040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533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232033-DC7D-4934-19EA-B38340791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en-IN" sz="4000" b="1" dirty="0"/>
              <a:t>Machine Learning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105FC8-3C7D-1855-1FBA-98E567946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22" y="2888727"/>
            <a:ext cx="5804955" cy="27138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82F76-DCEF-1CDC-1E62-3BCEBCBD1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036565"/>
            <a:ext cx="4265370" cy="4012544"/>
          </a:xfrm>
        </p:spPr>
        <p:txBody>
          <a:bodyPr anchor="ctr"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Model Selection:</a:t>
            </a:r>
          </a:p>
          <a:p>
            <a:r>
              <a:rPr lang="en-IN" sz="2200" dirty="0"/>
              <a:t>The project uses a Logistic Regression algorithm for fake news classification. </a:t>
            </a:r>
          </a:p>
          <a:p>
            <a:r>
              <a:rPr lang="en-IN" sz="2200" dirty="0"/>
              <a:t>Logistic Regression is a supervised learning algorithm suitable for binary classification problems. </a:t>
            </a:r>
          </a:p>
          <a:p>
            <a:r>
              <a:rPr lang="en-IN" sz="2200" dirty="0"/>
              <a:t>It classifies news articles into two categories: Real or Fake. </a:t>
            </a:r>
          </a:p>
          <a:p>
            <a:r>
              <a:rPr lang="en-IN" sz="2200" dirty="0"/>
              <a:t>The model is trained using features extracted through TF-IDF Vectorization. </a:t>
            </a:r>
          </a:p>
          <a:p>
            <a:r>
              <a:rPr lang="en-IN" sz="2200" dirty="0"/>
              <a:t>After training, the model predicts the authenticity of unseen news articles with high accuracy.</a:t>
            </a:r>
          </a:p>
          <a:p>
            <a:endParaRPr lang="en-IN" sz="1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3DBD23-B7F1-473B-5B90-D297F65047A1}"/>
              </a:ext>
            </a:extLst>
          </p:cNvPr>
          <p:cNvSpPr/>
          <p:nvPr/>
        </p:nvSpPr>
        <p:spPr>
          <a:xfrm>
            <a:off x="0" y="337822"/>
            <a:ext cx="128016" cy="7040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127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3AF1A-4913-98A6-7563-D0B9A713E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85" y="195943"/>
            <a:ext cx="10515600" cy="1325563"/>
          </a:xfrm>
        </p:spPr>
        <p:txBody>
          <a:bodyPr/>
          <a:lstStyle/>
          <a:p>
            <a:r>
              <a:rPr lang="en-IN" b="1" dirty="0"/>
              <a:t>Results &amp;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35328-1CD8-45B8-3183-01827EB8D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69" y="1825625"/>
            <a:ext cx="11336694" cy="4836432"/>
          </a:xfrm>
        </p:spPr>
        <p:txBody>
          <a:bodyPr>
            <a:normAutofit/>
          </a:bodyPr>
          <a:lstStyle/>
          <a:p>
            <a:r>
              <a:rPr lang="en-IN" sz="2000" b="1" dirty="0"/>
              <a:t>Prediction Results:</a:t>
            </a:r>
          </a:p>
          <a:p>
            <a:r>
              <a:rPr lang="en-IN" sz="2000" dirty="0"/>
              <a:t>The trained model successfully classified news articles as Real or Fake. </a:t>
            </a:r>
          </a:p>
          <a:p>
            <a:r>
              <a:rPr lang="en-IN" sz="2000" dirty="0"/>
              <a:t>Machine Learning effectively identified patterns in textual data. </a:t>
            </a:r>
          </a:p>
          <a:p>
            <a:r>
              <a:rPr lang="en-IN" sz="2000" dirty="0"/>
              <a:t>The model produced fast and reliable predictions on unseen news articles. </a:t>
            </a:r>
          </a:p>
          <a:p>
            <a:r>
              <a:rPr lang="en-IN" sz="2000" dirty="0"/>
              <a:t>TF-IDF feature extraction improved the overall classification performance.</a:t>
            </a:r>
          </a:p>
          <a:p>
            <a:r>
              <a:rPr lang="en-IN" sz="2200" b="1" dirty="0"/>
              <a:t>Performance Evaluation:</a:t>
            </a:r>
          </a:p>
          <a:p>
            <a:r>
              <a:rPr lang="en-IN" sz="2200" dirty="0"/>
              <a:t>The model was evaluated using the following metrics:</a:t>
            </a:r>
          </a:p>
          <a:p>
            <a:r>
              <a:rPr lang="en-IN" sz="2200" dirty="0"/>
              <a:t>Accuracy – Measures the overall correctness of predictions. </a:t>
            </a:r>
          </a:p>
          <a:p>
            <a:r>
              <a:rPr lang="en-IN" sz="2200" dirty="0"/>
              <a:t>Precision – Indicates how many predicted fake news articles were actually fake. </a:t>
            </a:r>
          </a:p>
          <a:p>
            <a:r>
              <a:rPr lang="en-IN" sz="2200" dirty="0"/>
              <a:t>Recall – Measures the model's ability to identify fake news correctly. </a:t>
            </a:r>
          </a:p>
          <a:p>
            <a:r>
              <a:rPr lang="en-IN" sz="2200" dirty="0"/>
              <a:t>F1-Score – Provides a balanced evaluation of Precision and Recall.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66F2D2-02F3-BA07-AEA4-D438B7BE07A3}"/>
              </a:ext>
            </a:extLst>
          </p:cNvPr>
          <p:cNvSpPr/>
          <p:nvPr/>
        </p:nvSpPr>
        <p:spPr>
          <a:xfrm>
            <a:off x="0" y="337822"/>
            <a:ext cx="128016" cy="7040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955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66BCF-55BA-765C-B324-18DF244B1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191"/>
            <a:ext cx="10515600" cy="1325563"/>
          </a:xfrm>
        </p:spPr>
        <p:txBody>
          <a:bodyPr/>
          <a:lstStyle/>
          <a:p>
            <a:r>
              <a:rPr lang="en-IN" b="1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F31BA-334E-1804-345A-DA0C30DAE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754"/>
            <a:ext cx="10515600" cy="471020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Conclusion</a:t>
            </a:r>
            <a:r>
              <a:rPr lang="en-IN" sz="2000" b="1" dirty="0"/>
              <a:t>:</a:t>
            </a:r>
          </a:p>
          <a:p>
            <a:r>
              <a:rPr lang="en-IN" sz="2000" dirty="0"/>
              <a:t>Successfully developed a Machine Learning-based Fake News Detection System. </a:t>
            </a:r>
          </a:p>
          <a:p>
            <a:r>
              <a:rPr lang="en-IN" sz="2000" dirty="0"/>
              <a:t>Applied Natural Language Processing (NLP) techniques for text preprocessing. </a:t>
            </a:r>
          </a:p>
          <a:p>
            <a:r>
              <a:rPr lang="en-IN" sz="2000" dirty="0"/>
              <a:t>Used TF-IDF Vectorization to convert textual data into numerical features. </a:t>
            </a:r>
          </a:p>
          <a:p>
            <a:r>
              <a:rPr lang="en-IN" sz="2000" dirty="0"/>
              <a:t>Trained a Machine Learning model to classify news articles as Real or Fake. </a:t>
            </a:r>
          </a:p>
          <a:p>
            <a:r>
              <a:rPr lang="en-IN" sz="2000" dirty="0"/>
              <a:t>The proposed system provides accurate, efficient, and automated fake news detection, helping reduce the spread of misinformation.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Future Scope:</a:t>
            </a:r>
          </a:p>
          <a:p>
            <a:r>
              <a:rPr lang="en-IN" sz="2400" dirty="0"/>
              <a:t>Improve accuracy using advanced Deep Learning models such as LSTM and BERT. </a:t>
            </a:r>
          </a:p>
          <a:p>
            <a:r>
              <a:rPr lang="en-IN" sz="2400" dirty="0"/>
              <a:t>Support multilingual fake news detection. </a:t>
            </a:r>
          </a:p>
          <a:p>
            <a:r>
              <a:rPr lang="en-IN" sz="2400" dirty="0"/>
              <a:t>Develop a web or mobile application for real-time news verification. </a:t>
            </a:r>
          </a:p>
          <a:p>
            <a:r>
              <a:rPr lang="en-IN" sz="2400" dirty="0"/>
              <a:t>Integrate with social media platforms to identify misleading content automatically. </a:t>
            </a:r>
          </a:p>
          <a:p>
            <a:r>
              <a:rPr lang="en-IN" sz="2400" dirty="0"/>
              <a:t>Expand the system to detect fake images, videos, and multimedia content.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F9CECE-F3D3-1FD4-516A-C8FC7999970D}"/>
              </a:ext>
            </a:extLst>
          </p:cNvPr>
          <p:cNvSpPr/>
          <p:nvPr/>
        </p:nvSpPr>
        <p:spPr>
          <a:xfrm>
            <a:off x="0" y="337822"/>
            <a:ext cx="128016" cy="7040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73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AACB1-A543-934B-CF11-F8138F8A2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7441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E38583-4CEA-96F4-50A5-5D49D1317249}"/>
              </a:ext>
            </a:extLst>
          </p:cNvPr>
          <p:cNvSpPr/>
          <p:nvPr/>
        </p:nvSpPr>
        <p:spPr>
          <a:xfrm>
            <a:off x="3219061" y="2967335"/>
            <a:ext cx="5962261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  <a:p>
            <a:pPr algn="ctr"/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1097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786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   IBM PBEL Virtual Internship 2026 In Artificial Intelligence  Under the guidance of Hemanth Kyatham  Topic – Fake News Detection Using Machine Learning  Presented by-  Aditya Singh B.tech (CSE) adityasinghuit013@gmail.com Batch 8 </vt:lpstr>
      <vt:lpstr>INTRODUCTION</vt:lpstr>
      <vt:lpstr>Problem Statement</vt:lpstr>
      <vt:lpstr>Objectives</vt:lpstr>
      <vt:lpstr>Technologies Used</vt:lpstr>
      <vt:lpstr>Dataset Description </vt:lpstr>
      <vt:lpstr>Methodology</vt:lpstr>
      <vt:lpstr>Machine Learning Model</vt:lpstr>
      <vt:lpstr>Results &amp; Performance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Vidit Singh</dc:creator>
  <cp:lastModifiedBy>Aditya Singh</cp:lastModifiedBy>
  <cp:revision>3</cp:revision>
  <dcterms:created xsi:type="dcterms:W3CDTF">2026-07-12T15:47:05Z</dcterms:created>
  <dcterms:modified xsi:type="dcterms:W3CDTF">2026-07-20T13:25:01Z</dcterms:modified>
</cp:coreProperties>
</file>